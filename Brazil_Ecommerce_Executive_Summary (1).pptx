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23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Performance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Portfolio Project   |   Multi-year Brazilian E-Commerce 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2011680" cy="64008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95760" y="0"/>
            <a:ext cx="36576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11430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554480" cy="10515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125272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Brazilian e-commerce data covering customer behaviour, product performance, payment trends, and regional sales distribution.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11430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77440"/>
            <a:ext cx="1554480" cy="10515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774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4871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relational tables — Customer, Fact, Order, Payment, Product &amp; Seller — linked via a data model in Power BI.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11430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11880"/>
            <a:ext cx="1554480" cy="10515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118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37216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with Power Query (M language) for transformations and DAX for measures and KPIs.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846320"/>
            <a:ext cx="11430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846320"/>
            <a:ext cx="1554480" cy="10515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8463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57400" y="495604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required significant cleaning and enrichment before any meaningful analysis or visualisation could begin.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473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 |  Revenue &amp; Sales Performance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73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 &amp; Preparation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95760" y="0"/>
            <a:ext cx="36576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623560" cy="2423160"/>
          </a:xfrm>
          <a:prstGeom prst="rect">
            <a:avLst/>
          </a:prstGeom>
          <a:solidFill>
            <a:srgbClr val="EFF6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623560" cy="5486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State Abbreviations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5257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Brazilian state codes (SP, RJ, MG etc.) were stored as abbreviations. A reference table was imported and merged in Power Query to replace every code with its full state name.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097280"/>
            <a:ext cx="5623560" cy="2423160"/>
          </a:xfrm>
          <a:prstGeom prst="rect">
            <a:avLst/>
          </a:prstGeom>
          <a:solidFill>
            <a:srgbClr val="EFF6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623560" cy="5486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14300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Portuguese Categories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755648"/>
            <a:ext cx="5257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were in Portuguese (Brazil's national language). A translation lookup table was </a:t>
            </a:r>
            <a:r>
              <a:rPr lang="en-US" sz="16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imported</a:t>
            </a: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merged to convert all categories into readable English labels.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5623560" cy="2423160"/>
          </a:xfrm>
          <a:prstGeom prst="rect">
            <a:avLst/>
          </a:prstGeom>
          <a:solidFill>
            <a:srgbClr val="EFF6FF"/>
          </a:solidFill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5623560" cy="5486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74904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Duplicate Removal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61688"/>
            <a:ext cx="5257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columns; including order IDs and customer records  were audited and cleaned to ensure no transactions were double-counted and skewing the KPI figures.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623560" cy="2423160"/>
          </a:xfrm>
          <a:prstGeom prst="rect">
            <a:avLst/>
          </a:prstGeom>
          <a:solidFill>
            <a:srgbClr val="EFF6FF"/>
          </a:solidFill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623560" cy="5486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74904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Validated &amp; Modelled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361688"/>
            <a:ext cx="5257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cleaning, all six tables were validated and connected via relationships in the Power BI data model before any DAX measures or visuals were built.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473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 |  Revenue &amp; Sales Performance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73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Metrics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95760" y="0"/>
            <a:ext cx="36576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5623560" cy="24688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6235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$13.63M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5623560" cy="24688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188720"/>
            <a:ext cx="56235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4592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95,128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63640" y="292608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5623560" cy="24688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840480"/>
            <a:ext cx="56235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2976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65760" y="557784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  (2017 → 2018)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5623560" cy="24688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3840480"/>
            <a:ext cx="56235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42976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$236.18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263640" y="557784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— Voucher Users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473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 |  Revenue &amp; Sales Performance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73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&amp; Sales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95760" y="0"/>
            <a:ext cx="36576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68580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252728"/>
            <a:ext cx="10469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is the dominant payment method — 72,200+ orders generating $10.56M in revenue, the single largest segment by every measure.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404872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04872"/>
            <a:ext cx="68580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04872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🎟️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10469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customers record the highest average order value at $236.18 — nearly $90 more per transaction than credit card users, making them a high-value, underserved segment.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666744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66744"/>
            <a:ext cx="68580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66744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776472"/>
            <a:ext cx="10469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$6.16M in 2017 to $7.43M in 2018 — a 20%+ increase in both revenue and order volume year-on-year, signalling strong business momentum.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928616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928616"/>
            <a:ext cx="68580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28616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5038344"/>
            <a:ext cx="10469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revenue-generating categories: Beauty &amp; Health, Watches &amp; Gifts, and Bed Table &amp; Bath. Sports &amp; Leisure leads in order volume but at a lower average price point.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473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 |  Revenue &amp; Sales Performance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73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Geographic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95760" y="0"/>
            <a:ext cx="36576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concentrated along Brazil's southeastern coastal corridor.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14300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37360"/>
            <a:ext cx="256032" cy="11430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4708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&amp; Rio de Janeiro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— highest revenue &amp; order density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114300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063240"/>
            <a:ext cx="256032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7296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States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revenue — secondary market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89120"/>
            <a:ext cx="114300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389120"/>
            <a:ext cx="256032" cy="1143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9884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&amp; Interior Regions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95604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revenue — significant untapped potential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87568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Significant growth opportunity exists in the northern and interior regions which remain largely unserved by the current distribution and marketing network.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473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 |  Revenue &amp; Sales Performance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73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Logistics Snapshot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95760" y="0"/>
            <a:ext cx="36576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92825" y="1088136"/>
            <a:ext cx="4023360" cy="2423160"/>
          </a:xfrm>
          <a:prstGeom prst="rect">
            <a:avLst/>
          </a:prstGeom>
          <a:solidFill>
            <a:srgbClr val="F0FDF4"/>
          </a:solidFill>
          <a:ln w="254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265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Strong performance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825" y="1591056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2825" y="27797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Deliveries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7625" y="1078992"/>
            <a:ext cx="3658985" cy="242316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7625" y="158191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207625" y="27706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Total Delivery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8105" y="1097280"/>
            <a:ext cx="4023360" cy="2423160"/>
          </a:xfrm>
          <a:prstGeom prst="rect">
            <a:avLst/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9545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Needs attention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8105" y="1600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9.28 days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48105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→ Customer Gap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78774" y="3680460"/>
            <a:ext cx="4023360" cy="2423160"/>
          </a:xfrm>
          <a:prstGeom prst="rect">
            <a:avLst/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0214" y="37536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Upsell opportunity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78774" y="41833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278774" y="53721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Order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6330" y="3680460"/>
            <a:ext cx="4023360" cy="2423160"/>
          </a:xfrm>
          <a:prstGeom prst="rect">
            <a:avLst/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7770" y="37536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Revenue at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6330" y="41833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$165.59K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626330" y="53721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473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 |  Revenue &amp; Sales Performance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73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Conclusion &amp; Opportunities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795760" y="0"/>
            <a:ext cx="36576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77724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Geographically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733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and interior of Brazil represent significant untapped revenue potential with virtually no current market penetration.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04872"/>
            <a:ext cx="77724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04872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4963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Basket Size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352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just 1.19 items per order, targeted bundling and cross-sell strategies could lift revenue without needing new customer acquisition.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66744"/>
            <a:ext cx="77724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66744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375818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Last-Mile Delivery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19709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9.28-day carrier-to-customer gap is where satisfaction and churn risk is being created. Reducing this directly addresses the $165.59K churn exposure.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928616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928616"/>
            <a:ext cx="777240" cy="10972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28616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80160" y="502005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Voucher Segment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54589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users have the highest average order value at $236.18. A focused retention and upsell campaign could generate disproportionate revenue gains.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6473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 |  Revenue &amp; Sales Performance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73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695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 E-Commerce Executive Summary</dc:title>
  <dc:subject>PptxGenJS Presentation</dc:subject>
  <dc:creator>PptxGenJS</dc:creator>
  <cp:lastModifiedBy>Obanigba Ebenezer</cp:lastModifiedBy>
  <cp:revision>2</cp:revision>
  <dcterms:created xsi:type="dcterms:W3CDTF">2026-05-09T06:36:31Z</dcterms:created>
  <dcterms:modified xsi:type="dcterms:W3CDTF">2026-05-11T09:32:00Z</dcterms:modified>
</cp:coreProperties>
</file>